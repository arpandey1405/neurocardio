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70" r:id="rId2"/>
    <p:sldId id="259" r:id="rId3"/>
    <p:sldId id="260" r:id="rId4"/>
    <p:sldId id="267" r:id="rId5"/>
    <p:sldId id="261" r:id="rId6"/>
    <p:sldId id="262" r:id="rId7"/>
    <p:sldId id="269" r:id="rId8"/>
    <p:sldId id="263" r:id="rId9"/>
    <p:sldId id="268" r:id="rId10"/>
    <p:sldId id="264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08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4589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8600C3-9F16-9DC7-6F05-A6FE5AC5F7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94" b="22320"/>
          <a:stretch>
            <a:fillRect/>
          </a:stretch>
        </p:blipFill>
        <p:spPr>
          <a:xfrm>
            <a:off x="1524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828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Background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sz="1500" b="1" dirty="0">
                <a:solidFill>
                  <a:srgbClr val="1D2F82"/>
                </a:solidFill>
                <a:latin typeface="Calibri"/>
              </a:rPr>
              <a:t>Problem Statement:</a:t>
            </a:r>
            <a:endParaRPr lang="en-US" sz="1600" dirty="0"/>
          </a:p>
          <a:p>
            <a:pPr marL="320040" lvl="1" indent="-164592">
              <a:lnSpc>
                <a:spcPct val="150000"/>
              </a:lnSpc>
              <a:buChar char="•"/>
            </a:pPr>
            <a:r>
              <a:rPr sz="1300" b="0" dirty="0">
                <a:solidFill>
                  <a:srgbClr val="000000"/>
                </a:solidFill>
                <a:latin typeface="Calibri"/>
              </a:rPr>
              <a:t>Cardiovascular disease is the leading cause of death worldwide, yet ECG analysis is still slow, manual, and largely unavailable in remote or low-resource settings.</a:t>
            </a:r>
          </a:p>
          <a:p>
            <a:pPr marL="320040" lvl="1" indent="-164592">
              <a:lnSpc>
                <a:spcPct val="150000"/>
              </a:lnSpc>
              <a:buChar char="•"/>
            </a:pPr>
            <a:r>
              <a:rPr sz="1300" b="0" dirty="0">
                <a:solidFill>
                  <a:srgbClr val="000000"/>
                </a:solidFill>
                <a:latin typeface="Calibri"/>
              </a:rPr>
              <a:t>Accurate deep-learning models are too power- and memory-hungry for always-on, battery-powered wearables.</a:t>
            </a:r>
          </a:p>
          <a:p>
            <a:pPr marL="0" indent="0">
              <a:lnSpc>
                <a:spcPct val="150000"/>
              </a:lnSpc>
              <a:buNone/>
            </a:pPr>
            <a:r>
              <a:rPr sz="1500" b="1" dirty="0">
                <a:solidFill>
                  <a:srgbClr val="1D2F82"/>
                </a:solidFill>
                <a:latin typeface="Calibri"/>
              </a:rPr>
              <a:t>Background &amp; Significance:</a:t>
            </a:r>
          </a:p>
          <a:p>
            <a:pPr marL="320040" lvl="1" indent="-164592">
              <a:lnSpc>
                <a:spcPct val="150000"/>
              </a:lnSpc>
              <a:buChar char="•"/>
            </a:pPr>
            <a:r>
              <a:rPr sz="1300" b="0" dirty="0">
                <a:solidFill>
                  <a:srgbClr val="000000"/>
                </a:solidFill>
                <a:latin typeface="Calibri"/>
              </a:rPr>
              <a:t>Continuous on-device cardiac monitoring enables early detection of arrhythmias and timely intervention outside the hospital.</a:t>
            </a:r>
          </a:p>
          <a:p>
            <a:pPr marL="320040" lvl="1" indent="-164592">
              <a:lnSpc>
                <a:spcPct val="150000"/>
              </a:lnSpc>
              <a:buChar char="•"/>
            </a:pPr>
            <a:r>
              <a:rPr sz="1300" b="0" dirty="0">
                <a:solidFill>
                  <a:srgbClr val="000000"/>
                </a:solidFill>
                <a:latin typeface="Calibri"/>
              </a:rPr>
              <a:t>Neuromorphic computing (event-driven Spiking Neural Networks) promises ultra-low-power classification by computing only when the signal changes.</a:t>
            </a:r>
          </a:p>
          <a:p>
            <a:pPr marL="0" indent="0">
              <a:lnSpc>
                <a:spcPct val="150000"/>
              </a:lnSpc>
              <a:buNone/>
            </a:pPr>
            <a:r>
              <a:rPr sz="1500" b="1" dirty="0">
                <a:solidFill>
                  <a:srgbClr val="1D2F82"/>
                </a:solidFill>
                <a:latin typeface="Calibri"/>
              </a:rPr>
              <a:t>Existing Solutions:</a:t>
            </a:r>
          </a:p>
          <a:p>
            <a:pPr marL="320040" lvl="1" indent="-164592">
              <a:lnSpc>
                <a:spcPct val="150000"/>
              </a:lnSpc>
              <a:buChar char="•"/>
            </a:pPr>
            <a:r>
              <a:rPr sz="1300" b="0" dirty="0">
                <a:solidFill>
                  <a:srgbClr val="000000"/>
                </a:solidFill>
                <a:latin typeface="Calibri"/>
              </a:rPr>
              <a:t>Most recent works use frame-based CNN / LSTM models, often on cloud servers, Jetson, or Raspberry Pi hardware.</a:t>
            </a:r>
          </a:p>
          <a:p>
            <a:pPr marL="0" indent="0">
              <a:lnSpc>
                <a:spcPct val="150000"/>
              </a:lnSpc>
              <a:buNone/>
            </a:pPr>
            <a:r>
              <a:rPr sz="1500" b="1" dirty="0">
                <a:solidFill>
                  <a:srgbClr val="1D2F82"/>
                </a:solidFill>
                <a:latin typeface="Calibri"/>
              </a:rPr>
              <a:t>Limitations / Research Gap:</a:t>
            </a:r>
          </a:p>
          <a:p>
            <a:pPr marL="320040" lvl="1" indent="-164592">
              <a:lnSpc>
                <a:spcPct val="150000"/>
              </a:lnSpc>
              <a:buChar char="•"/>
            </a:pPr>
            <a:r>
              <a:rPr sz="1300" b="0" dirty="0">
                <a:solidFill>
                  <a:srgbClr val="000000"/>
                </a:solidFill>
                <a:latin typeface="Calibri"/>
              </a:rPr>
              <a:t>They sample at the Nyquist rate (no event-driven acquisition), depend on high-power or cloud hardware, and are rarely self-contained.</a:t>
            </a:r>
          </a:p>
          <a:p>
            <a:pPr marL="320040" lvl="1" indent="-164592">
              <a:lnSpc>
                <a:spcPct val="150000"/>
              </a:lnSpc>
              <a:buChar char="•"/>
            </a:pPr>
            <a:r>
              <a:rPr sz="1300" b="0" dirty="0">
                <a:solidFill>
                  <a:srgbClr val="000000"/>
                </a:solidFill>
                <a:latin typeface="Calibri"/>
              </a:rPr>
              <a:t>No surveyed system combines level-crossing (LC) sampling with an on-device SNN for ultra-low-power ECG anomaly detection — the gap </a:t>
            </a:r>
            <a:r>
              <a:rPr sz="1300" b="0" dirty="0" err="1">
                <a:solidFill>
                  <a:srgbClr val="000000"/>
                </a:solidFill>
                <a:latin typeface="Calibri"/>
              </a:rPr>
              <a:t>NeuroCardio</a:t>
            </a:r>
            <a:r>
              <a:rPr sz="1300" b="0" dirty="0">
                <a:solidFill>
                  <a:srgbClr val="000000"/>
                </a:solidFill>
                <a:latin typeface="Calibri"/>
              </a:rPr>
              <a:t> targets.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 (1 / 2)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602864"/>
              </p:ext>
            </p:extLst>
          </p:nvPr>
        </p:nvGraphicFramePr>
        <p:xfrm>
          <a:off x="548640" y="1280160"/>
          <a:ext cx="11091672" cy="3909388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3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 &amp;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/ 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 &amp; Research 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Calibri"/>
                        </a:rPr>
                        <a:t>O. M. Machidon, 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Privacy-preserving adaptive arrhythmia monitoring with wearable ECG+PPG; Frontiers in Digital Health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Federated on-device learning; ECG+PPG personalization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No spiking/event-driven; leans on smartphone compute; not self-contained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Calibri"/>
                        </a:rPr>
                        <a:t>S. Sheeba Rani et al., 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IoT embedded wearable for continuous cardiovascular monitoring; Biomed. Signal Process.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1D-DSC + Attention-GRU on ARM Cortex-M (TF-Lite)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Frame-based, not event-driven; no LC sampling; higher power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Calibri"/>
                        </a:rPr>
                        <a:t>M. Hizem et al., 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Reliable ECG Anomaly Detection on Edge Devices for IoMT; Sensors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TinyML + Edge AI; pruned/quantized 2-D CNN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Nyquist-rate quantized CNN, not spike-driven; few anomaly classes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Calibri"/>
                        </a:rPr>
                        <a:t>Y. Wang et al., 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Hybrid CNN-LSTM for ECG arrhythmia detection in IoMT; Discover IoT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CNN-LSTM on MIT-BIH; NVIDIA Jetson Nano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Power-hungry for wearables; no LC/SNN; weak on minority classes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3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Calibri"/>
                        </a:rPr>
                        <a:t>E. M. Priya, K. S. Krishnan, 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LIFE-CARE: IoT–Cloud heart-disease prediction; Int. J. Distrib. Sensor Networks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IoT + EHR; edge server + multicloud deep learning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Cloud-dependent (latency, privacy); not on-device waveform classification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3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Calibri"/>
                        </a:rPr>
                        <a:t>Z. Alimbayeva et al., 2024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Wearable ECG Device and Machine Learning for Heart Monitoring; Sensors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Single-lead; PQRST segmentation; ML web module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Conventional ML; no neuromorphic path; PC/web-based prediction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Calibri"/>
                        </a:rPr>
                        <a:t>X. An et al., 2024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Lightweight Arrhythmia Model via Knowledge Distillation; Sensors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Teacher→student distillation on STM32 MCU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dirty="0">
                          <a:solidFill>
                            <a:srgbClr val="000000"/>
                          </a:solidFill>
                          <a:latin typeface="Calibri"/>
                        </a:rPr>
                        <a:t>Still frame-based CNN/LSTM; not event-driven; needs heavy teacher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8212981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[1]–[13], 2022–2026. The recurring gap: none combine level-crossing sampling with an on-device SNN — our target.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 (2 / 2)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098289"/>
              </p:ext>
            </p:extLst>
          </p:nvPr>
        </p:nvGraphicFramePr>
        <p:xfrm>
          <a:off x="548640" y="1280160"/>
          <a:ext cx="11091672" cy="3562426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8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 &amp;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/ 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 &amp; Research 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Calibri"/>
                        </a:rPr>
                        <a:t>A. S. Almasoud et al., 2023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Automated Arrhythmia Classification with Farmland Fertility Algorithm; Sensors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Metaheuristic + hybrid deep learning on IoT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Heavy optimization; server/cloud-oriented; no wearable hardware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Calibri"/>
                        </a:rPr>
                        <a:t>Y. M. Obeidat, A. M. Alqudah, 2023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Embedded System on Raspberry Pi for ECG Monitoring; Applied Sciences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Raspberry Pi ECG acquisition + monitoring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Pi is high-power; mostly visualization; little auto-classification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Calibri"/>
                        </a:rPr>
                        <a:t>N. Raheja, A. K. Manocha, 2022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IoT ECG Monitoring with Encryption + Authentication; Biomed. Signal Process.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SG/MOWPT filtering; encryption + OTP; DL classifier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Security overhead; cloud dependence; no on-device neuromorphic inference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Calibri"/>
                        </a:rPr>
                        <a:t>A. A. Nancy et al., 2022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IoT-Cloud Smart Healthcare for Heart-Disease Prediction; Electronics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Bi-directional LSTM; IoT sensors + cloud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Cloud-dependent; not real-time on-device; no event-driven acquisition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Calibri"/>
                        </a:rPr>
                        <a:t>P. Wang et al., 2022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dirty="0">
                          <a:solidFill>
                            <a:srgbClr val="000000"/>
                          </a:solidFill>
                          <a:latin typeface="Calibri"/>
                        </a:rPr>
                        <a:t>Wearable ECG Monitor for Deep-Learning CVD Detection; arXiv:2201.10083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ECG patch; CNN+LSTM+ResNet; semi-supervised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Confuses SVPB vs AF (~58% acc.); cloud AI-engine; not neuromorphic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000000"/>
                          </a:solidFill>
                          <a:latin typeface="Calibri"/>
                        </a:rPr>
                        <a:t>H. Chu et al., 2022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Neuromorphic Spike-Driven SNN Processor for Wearable ECG; IEEE T-BioCAS (base method)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LC sampling + SNN trained with STBP; 40 nm ASIC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dirty="0">
                          <a:solidFill>
                            <a:srgbClr val="000000"/>
                          </a:solidFill>
                          <a:latin typeface="Calibri"/>
                        </a:rPr>
                        <a:t>98.22% on MIT-BIH at 0.75 </a:t>
                      </a:r>
                      <a:r>
                        <a:rPr sz="900" dirty="0" err="1">
                          <a:solidFill>
                            <a:srgbClr val="000000"/>
                          </a:solidFill>
                          <a:latin typeface="Calibri"/>
                        </a:rPr>
                        <a:t>uJ</a:t>
                      </a:r>
                      <a:r>
                        <a:rPr sz="900" dirty="0">
                          <a:solidFill>
                            <a:srgbClr val="000000"/>
                          </a:solidFill>
                          <a:latin typeface="Calibri"/>
                        </a:rPr>
                        <a:t>/classification; custom silicon (we adapt on Arduino)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[1]–[13], 2022–2026. The recurring gap: none combine level-crossing sampling with an on-device SNN — our target.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&amp; Methodology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sz="1500" b="1" dirty="0">
                <a:solidFill>
                  <a:srgbClr val="1D2F82"/>
                </a:solidFill>
                <a:latin typeface="Calibri"/>
              </a:rPr>
              <a:t>Proposed Solution:</a:t>
            </a:r>
            <a:endParaRPr lang="en-US" sz="1600" dirty="0"/>
          </a:p>
          <a:p>
            <a:pPr marL="320040" lvl="1" indent="-164592">
              <a:lnSpc>
                <a:spcPct val="150000"/>
              </a:lnSpc>
              <a:buChar char="•"/>
            </a:pPr>
            <a:r>
              <a:rPr sz="1250" b="0" dirty="0">
                <a:solidFill>
                  <a:srgbClr val="000000"/>
                </a:solidFill>
                <a:latin typeface="Calibri"/>
              </a:rPr>
              <a:t>A wearable belt that acquires single-lead ECG and classifies it as Normal / Abnormal on-device. Goal model: an event-driven Spiking Neural Network (SNN) [13].</a:t>
            </a:r>
          </a:p>
          <a:p>
            <a:pPr marL="320040" lvl="1" indent="-164592">
              <a:lnSpc>
                <a:spcPct val="150000"/>
              </a:lnSpc>
              <a:buChar char="•"/>
            </a:pPr>
            <a:r>
              <a:rPr sz="1250" b="0" dirty="0">
                <a:solidFill>
                  <a:srgbClr val="000000"/>
                </a:solidFill>
                <a:latin typeface="Calibri"/>
              </a:rPr>
              <a:t>Level-crossing (LC) sampling turns the ECG into a sparse single-bit spike train, so computation happens only when the signal changes — the source of the power saving.</a:t>
            </a:r>
          </a:p>
          <a:p>
            <a:pPr marL="320040" lvl="1" indent="-164592">
              <a:lnSpc>
                <a:spcPct val="150000"/>
              </a:lnSpc>
              <a:buChar char="•"/>
            </a:pPr>
            <a:r>
              <a:rPr sz="1250" b="0" dirty="0">
                <a:solidFill>
                  <a:srgbClr val="000000"/>
                </a:solidFill>
                <a:latin typeface="Calibri"/>
              </a:rPr>
              <a:t>Current baseline: a Random Forest classifier on P/Q/R features validates the full acquisition → classification → display pipeline while the SNN is developed.</a:t>
            </a:r>
          </a:p>
          <a:p>
            <a:pPr marL="0" indent="0">
              <a:lnSpc>
                <a:spcPct val="150000"/>
              </a:lnSpc>
              <a:buNone/>
            </a:pPr>
            <a:r>
              <a:rPr sz="1500" b="1" dirty="0">
                <a:solidFill>
                  <a:srgbClr val="1D2F82"/>
                </a:solidFill>
                <a:latin typeface="Calibri"/>
              </a:rPr>
              <a:t>Methodology / Approach:</a:t>
            </a:r>
          </a:p>
          <a:p>
            <a:pPr marL="320040" lvl="1" indent="-164592">
              <a:lnSpc>
                <a:spcPct val="150000"/>
              </a:lnSpc>
              <a:buChar char="•"/>
            </a:pPr>
            <a:r>
              <a:rPr sz="1250" b="0" dirty="0">
                <a:solidFill>
                  <a:srgbClr val="000000"/>
                </a:solidFill>
                <a:latin typeface="Calibri"/>
              </a:rPr>
              <a:t>ECG electrodes (belt) → ECG sensor module (+5V, analog) → Arduino UNO (A0) → on-device processing → 16×2 LCD + buzzer alert; results also viewable on a web app.</a:t>
            </a:r>
          </a:p>
          <a:p>
            <a:pPr marL="320040" lvl="1" indent="-164592">
              <a:lnSpc>
                <a:spcPct val="150000"/>
              </a:lnSpc>
              <a:buChar char="•"/>
            </a:pPr>
            <a:r>
              <a:rPr sz="1250" b="0" dirty="0">
                <a:solidFill>
                  <a:srgbClr val="000000"/>
                </a:solidFill>
                <a:latin typeface="Calibri"/>
              </a:rPr>
              <a:t>Target pipeline: raw ECG → LC sampling → SNN (STBP), trained and validated on the MIT-BIH Arrhythmia dataset (</a:t>
            </a:r>
            <a:r>
              <a:rPr sz="1250" b="0" dirty="0" err="1">
                <a:solidFill>
                  <a:srgbClr val="000000"/>
                </a:solidFill>
                <a:latin typeface="Calibri"/>
              </a:rPr>
              <a:t>PyTorch</a:t>
            </a:r>
            <a:r>
              <a:rPr sz="1250" b="0" dirty="0">
                <a:solidFill>
                  <a:srgbClr val="000000"/>
                </a:solidFill>
                <a:latin typeface="Calibri"/>
              </a:rPr>
              <a:t> + </a:t>
            </a:r>
            <a:r>
              <a:rPr sz="1250" b="0" dirty="0" err="1">
                <a:solidFill>
                  <a:srgbClr val="000000"/>
                </a:solidFill>
                <a:latin typeface="Calibri"/>
              </a:rPr>
              <a:t>snnTorch</a:t>
            </a:r>
            <a:r>
              <a:rPr sz="1250" b="0" dirty="0">
                <a:solidFill>
                  <a:srgbClr val="000000"/>
                </a:solidFill>
                <a:latin typeface="Calibri"/>
              </a:rPr>
              <a:t>).</a:t>
            </a:r>
          </a:p>
          <a:p>
            <a:pPr marL="0" indent="0">
              <a:lnSpc>
                <a:spcPct val="150000"/>
              </a:lnSpc>
              <a:buNone/>
            </a:pPr>
            <a:r>
              <a:rPr sz="1500" b="1" dirty="0">
                <a:solidFill>
                  <a:srgbClr val="1D2F82"/>
                </a:solidFill>
                <a:latin typeface="Calibri"/>
              </a:rPr>
              <a:t>Project Scope:</a:t>
            </a:r>
          </a:p>
          <a:p>
            <a:pPr marL="320040" lvl="1" indent="-164592">
              <a:lnSpc>
                <a:spcPct val="150000"/>
              </a:lnSpc>
              <a:buChar char="•"/>
            </a:pPr>
            <a:r>
              <a:rPr sz="1250" b="0" dirty="0">
                <a:solidFill>
                  <a:srgbClr val="000000"/>
                </a:solidFill>
                <a:latin typeface="Calibri"/>
              </a:rPr>
              <a:t>In scope: single-lead acquisition, on-device Normal/Abnormal classification, LCD/buzzer feedback and a web dashboard.</a:t>
            </a:r>
          </a:p>
          <a:p>
            <a:pPr marL="320040" lvl="1" indent="-164592">
              <a:lnSpc>
                <a:spcPct val="150000"/>
              </a:lnSpc>
              <a:buChar char="•"/>
            </a:pPr>
            <a:r>
              <a:rPr sz="1250" b="0" dirty="0">
                <a:solidFill>
                  <a:srgbClr val="000000"/>
                </a:solidFill>
                <a:latin typeface="Calibri"/>
              </a:rPr>
              <a:t>Out of scope (this stage): multi-lead clinical diagnosis, custom neuromorphic ASIC, and medical/regulatory certification.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 (50%), Timeline &amp; Tools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sz="1500" b="1" dirty="0">
                <a:solidFill>
                  <a:srgbClr val="1D2F82"/>
                </a:solidFill>
                <a:latin typeface="Calibri"/>
              </a:rPr>
              <a:t>Work completed so far (≈50%) — hardware &amp; acquisition:</a:t>
            </a:r>
            <a:endParaRPr lang="en-US" sz="1600" dirty="0"/>
          </a:p>
          <a:p>
            <a:pPr marL="320040" lvl="1" indent="-164592">
              <a:lnSpc>
                <a:spcPct val="150000"/>
              </a:lnSpc>
              <a:buChar char="•"/>
            </a:pPr>
            <a:r>
              <a:rPr sz="1250" b="0" dirty="0">
                <a:solidFill>
                  <a:srgbClr val="000000"/>
                </a:solidFill>
                <a:latin typeface="Calibri"/>
              </a:rPr>
              <a:t>Wearable hardware assembled and working: Arduino UNO, ECG sensor module (+5V, analog out), 3-lead electrodes on the wearable belt, 16×2 LCD, and buzzer.</a:t>
            </a:r>
          </a:p>
          <a:p>
            <a:pPr marL="320040" lvl="1" indent="-164592">
              <a:lnSpc>
                <a:spcPct val="150000"/>
              </a:lnSpc>
              <a:buChar char="•"/>
            </a:pPr>
            <a:r>
              <a:rPr sz="1250" b="0" dirty="0">
                <a:solidFill>
                  <a:srgbClr val="000000"/>
                </a:solidFill>
                <a:latin typeface="Calibri"/>
              </a:rPr>
              <a:t>Live ECG acquired from the belt electrodes; heartbeat activity shown on the LCD, with the buzzer </a:t>
            </a:r>
            <a:r>
              <a:rPr sz="1250" b="0" dirty="0" err="1">
                <a:solidFill>
                  <a:srgbClr val="000000"/>
                </a:solidFill>
                <a:latin typeface="Calibri"/>
              </a:rPr>
              <a:t>signalling</a:t>
            </a:r>
            <a:r>
              <a:rPr sz="1250" b="0" dirty="0">
                <a:solidFill>
                  <a:srgbClr val="000000"/>
                </a:solidFill>
                <a:latin typeface="Calibri"/>
              </a:rPr>
              <a:t> abnormal beats.</a:t>
            </a:r>
          </a:p>
          <a:p>
            <a:pPr marL="320040" lvl="1" indent="-164592">
              <a:lnSpc>
                <a:spcPct val="150000"/>
              </a:lnSpc>
              <a:buChar char="•"/>
            </a:pPr>
            <a:r>
              <a:rPr sz="1250" b="0" dirty="0">
                <a:solidFill>
                  <a:srgbClr val="000000"/>
                </a:solidFill>
                <a:latin typeface="Calibri"/>
              </a:rPr>
              <a:t>Baseline ML pipeline built as a proof of concept: a web app classifies P/Q/R values as Normal / Abnormal (Random Forest) — validates the end-to-end flow.</a:t>
            </a:r>
          </a:p>
          <a:p>
            <a:pPr marL="320040" lvl="1" indent="-164592">
              <a:lnSpc>
                <a:spcPct val="150000"/>
              </a:lnSpc>
              <a:buChar char="•"/>
            </a:pPr>
            <a:r>
              <a:rPr sz="1250" b="0" dirty="0">
                <a:solidFill>
                  <a:srgbClr val="000000"/>
                </a:solidFill>
                <a:latin typeface="Calibri"/>
              </a:rPr>
              <a:t>Literature survey (13 works) and full system architecture </a:t>
            </a:r>
            <a:r>
              <a:rPr sz="1250" b="0" dirty="0" err="1">
                <a:solidFill>
                  <a:srgbClr val="000000"/>
                </a:solidFill>
                <a:latin typeface="Calibri"/>
              </a:rPr>
              <a:t>finalised</a:t>
            </a:r>
            <a:r>
              <a:rPr sz="1250" b="0" dirty="0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sz="1500" b="1" dirty="0">
                <a:solidFill>
                  <a:srgbClr val="1D2F82"/>
                </a:solidFill>
                <a:latin typeface="Calibri"/>
              </a:rPr>
              <a:t>Timeline &amp; milestones up to Review-III:</a:t>
            </a:r>
          </a:p>
          <a:p>
            <a:pPr marL="320040" lvl="1" indent="-164592">
              <a:lnSpc>
                <a:spcPct val="150000"/>
              </a:lnSpc>
              <a:buChar char="•"/>
            </a:pPr>
            <a:r>
              <a:rPr sz="1250" b="0" dirty="0">
                <a:solidFill>
                  <a:srgbClr val="000000"/>
                </a:solidFill>
                <a:latin typeface="Calibri"/>
              </a:rPr>
              <a:t>Review-I (now, ≈50%): hardware acquisition + baseline classifier working. Review-II: real ECG → digital P/Q/R, MIT-BIH dataset, begin LC sampling + SNN.</a:t>
            </a:r>
          </a:p>
          <a:p>
            <a:pPr marL="320040" lvl="1" indent="-164592">
              <a:lnSpc>
                <a:spcPct val="150000"/>
              </a:lnSpc>
              <a:buChar char="•"/>
            </a:pPr>
            <a:r>
              <a:rPr sz="1250" b="0" dirty="0">
                <a:solidFill>
                  <a:srgbClr val="000000"/>
                </a:solidFill>
                <a:latin typeface="Calibri"/>
              </a:rPr>
              <a:t>Review-III: SNN (STBP) integrated on-device, accuracy &amp; power benchmarking, final validation and demo.</a:t>
            </a:r>
          </a:p>
          <a:p>
            <a:pPr marL="0" indent="0">
              <a:lnSpc>
                <a:spcPct val="150000"/>
              </a:lnSpc>
              <a:buNone/>
            </a:pPr>
            <a:r>
              <a:rPr sz="1500" b="1" dirty="0">
                <a:solidFill>
                  <a:srgbClr val="1D2F82"/>
                </a:solidFill>
                <a:latin typeface="Calibri"/>
              </a:rPr>
              <a:t>Tools &amp; technologies:</a:t>
            </a:r>
          </a:p>
          <a:p>
            <a:pPr marL="320040" lvl="1" indent="-164592">
              <a:lnSpc>
                <a:spcPct val="150000"/>
              </a:lnSpc>
              <a:buChar char="•"/>
            </a:pPr>
            <a:r>
              <a:rPr sz="1250" b="0" dirty="0">
                <a:solidFill>
                  <a:srgbClr val="000000"/>
                </a:solidFill>
                <a:latin typeface="Calibri"/>
              </a:rPr>
              <a:t>Hardware: Arduino UNO, ECG sensor module, 3-lead electrodes, 16×2 LCD, buzzer, wearable belt, USB power.</a:t>
            </a:r>
          </a:p>
          <a:p>
            <a:pPr marL="320040" lvl="1" indent="-164592">
              <a:lnSpc>
                <a:spcPct val="150000"/>
              </a:lnSpc>
              <a:buChar char="•"/>
            </a:pPr>
            <a:r>
              <a:rPr sz="1250" b="0" dirty="0">
                <a:solidFill>
                  <a:srgbClr val="000000"/>
                </a:solidFill>
                <a:latin typeface="Calibri"/>
              </a:rPr>
              <a:t>Software: Python, scikit-learn (RF baseline), Git/GitHub. Target ML: </a:t>
            </a:r>
            <a:r>
              <a:rPr sz="1250" b="0" dirty="0" err="1">
                <a:solidFill>
                  <a:srgbClr val="000000"/>
                </a:solidFill>
                <a:latin typeface="Calibri"/>
              </a:rPr>
              <a:t>PyTorch</a:t>
            </a:r>
            <a:r>
              <a:rPr sz="1250" b="0" dirty="0">
                <a:solidFill>
                  <a:srgbClr val="000000"/>
                </a:solidFill>
                <a:latin typeface="Calibri"/>
              </a:rPr>
              <a:t> + </a:t>
            </a:r>
            <a:r>
              <a:rPr sz="1250" b="0" dirty="0" err="1">
                <a:solidFill>
                  <a:srgbClr val="000000"/>
                </a:solidFill>
                <a:latin typeface="Calibri"/>
              </a:rPr>
              <a:t>snnTorch</a:t>
            </a:r>
            <a:r>
              <a:rPr sz="1250" b="0" dirty="0">
                <a:solidFill>
                  <a:srgbClr val="000000"/>
                </a:solidFill>
                <a:latin typeface="Calibri"/>
              </a:rPr>
              <a:t> (SNN/STBP), MIT-BIH Arrhythmia dataset.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416A4D-F751-2995-83AD-CD0E8EF3F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59" y="1313504"/>
            <a:ext cx="11272481" cy="4230991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DF556107-0D4F-069C-2A8D-58473CB1D7F4}"/>
              </a:ext>
            </a:extLst>
          </p:cNvPr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2800" dirty="0"/>
          </a:p>
        </p:txBody>
      </p:sp>
      <p:pic>
        <p:nvPicPr>
          <p:cNvPr id="7" name="Image 0" descr="logo.png">
            <a:extLst>
              <a:ext uri="{FF2B5EF4-FFF2-40B4-BE49-F238E27FC236}">
                <a16:creationId xmlns:a16="http://schemas.microsoft.com/office/drawing/2014/main" id="{38B83300-9375-E0AF-2933-C02B13908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704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Implementation &amp; Connections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pic>
        <p:nvPicPr>
          <p:cNvPr id="5" name="Picture 4" descr="hardwar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234440"/>
            <a:ext cx="3200400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54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i="1">
                <a:solidFill>
                  <a:srgbClr val="555555"/>
                </a:solidFill>
                <a:latin typeface="Calibri"/>
              </a:rPr>
              <a:t>Assembled prototype: belt electrodes → ECG sensor → Arduino UNO → LCD + buzzer.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234440"/>
            <a:ext cx="7589520" cy="3640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1500" b="1" dirty="0">
                <a:solidFill>
                  <a:srgbClr val="1D2F82"/>
                </a:solidFill>
                <a:latin typeface="Calibri"/>
              </a:rPr>
              <a:t>Signal chain:</a:t>
            </a:r>
          </a:p>
          <a:p>
            <a:pPr marL="320040" lvl="1" indent="-164592">
              <a:lnSpc>
                <a:spcPct val="150000"/>
              </a:lnSpc>
              <a:buChar char="•"/>
            </a:pPr>
            <a:r>
              <a:rPr sz="1250" b="0" dirty="0">
                <a:solidFill>
                  <a:srgbClr val="000000"/>
                </a:solidFill>
                <a:latin typeface="Calibri"/>
              </a:rPr>
              <a:t>3-lead electrodes (RA / LA / RL — red, yellow, green) snap onto the wearable belt and cable into the ECG sensor module.</a:t>
            </a:r>
          </a:p>
          <a:p>
            <a:pPr marL="320040" lvl="1" indent="-164592">
              <a:lnSpc>
                <a:spcPct val="150000"/>
              </a:lnSpc>
              <a:buChar char="•"/>
            </a:pPr>
            <a:r>
              <a:rPr sz="1250" b="0" dirty="0">
                <a:solidFill>
                  <a:srgbClr val="000000"/>
                </a:solidFill>
                <a:latin typeface="Calibri"/>
              </a:rPr>
              <a:t>ECG sensor module: powered at +5V DC; its analog output feeds the Arduino UNO analog input (A0).</a:t>
            </a:r>
          </a:p>
          <a:p>
            <a:pPr marL="320040" lvl="1" indent="-164592">
              <a:lnSpc>
                <a:spcPct val="150000"/>
              </a:lnSpc>
              <a:buChar char="•"/>
            </a:pPr>
            <a:r>
              <a:rPr sz="1250" b="0" dirty="0">
                <a:solidFill>
                  <a:srgbClr val="000000"/>
                </a:solidFill>
                <a:latin typeface="Calibri"/>
              </a:rPr>
              <a:t>Arduino UNO reads and processes the ECG signal, then drives the 16×2 LCD (heart activity / status) and the buzzer (audible alert on an abnormal beat).</a:t>
            </a:r>
          </a:p>
          <a:p>
            <a:pPr marL="320040" lvl="1" indent="-164592">
              <a:lnSpc>
                <a:spcPct val="150000"/>
              </a:lnSpc>
              <a:buChar char="•"/>
            </a:pPr>
            <a:r>
              <a:rPr sz="1250" b="0" dirty="0">
                <a:solidFill>
                  <a:srgbClr val="000000"/>
                </a:solidFill>
                <a:latin typeface="Calibri"/>
              </a:rPr>
              <a:t>USB links the Arduino to the PC — for power and for the Serial Monitor / Serial Plotter used to view the live waveform.</a:t>
            </a:r>
          </a:p>
          <a:p>
            <a:pPr marL="320040" lvl="1" indent="-164592">
              <a:lnSpc>
                <a:spcPct val="150000"/>
              </a:lnSpc>
              <a:buChar char="•"/>
            </a:pPr>
            <a:r>
              <a:rPr sz="1250" b="0" dirty="0">
                <a:solidFill>
                  <a:srgbClr val="000000"/>
                </a:solidFill>
                <a:latin typeface="Calibri"/>
              </a:rPr>
              <a:t>The </a:t>
            </a:r>
            <a:r>
              <a:rPr sz="1250" b="0" dirty="0" err="1">
                <a:solidFill>
                  <a:srgbClr val="000000"/>
                </a:solidFill>
                <a:latin typeface="Calibri"/>
              </a:rPr>
              <a:t>perfboard</a:t>
            </a:r>
            <a:r>
              <a:rPr sz="1250" b="0" dirty="0">
                <a:solidFill>
                  <a:srgbClr val="000000"/>
                </a:solidFill>
                <a:latin typeface="Calibri"/>
              </a:rPr>
              <a:t> carries the supporting connections between the sensor, LCD, and buzzer.</a:t>
            </a:r>
          </a:p>
          <a:p>
            <a:pPr marL="0" indent="0">
              <a:lnSpc>
                <a:spcPct val="150000"/>
              </a:lnSpc>
              <a:buNone/>
            </a:pPr>
            <a:r>
              <a:rPr sz="1500" b="1" dirty="0">
                <a:solidFill>
                  <a:srgbClr val="1D2F82"/>
                </a:solidFill>
                <a:latin typeface="Calibri"/>
              </a:rPr>
              <a:t>Verified working:</a:t>
            </a:r>
          </a:p>
          <a:p>
            <a:pPr marL="320040" lvl="1" indent="-164592">
              <a:lnSpc>
                <a:spcPct val="150000"/>
              </a:lnSpc>
              <a:buChar char="•"/>
            </a:pPr>
            <a:r>
              <a:rPr sz="1250" b="0" dirty="0">
                <a:solidFill>
                  <a:srgbClr val="000000"/>
                </a:solidFill>
                <a:latin typeface="Calibri"/>
              </a:rPr>
              <a:t>Live ECG waveform tracks a real heartbeat on the Serial Plotter; the LCD updates in real time; the buzzer fires on an abnormal input.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51049E-5635-EAB3-2985-64A4516DD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8" y="3936571"/>
            <a:ext cx="4296309" cy="26851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902C63-CF40-744B-34A6-7124AB507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005840"/>
            <a:ext cx="4296308" cy="2685193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27F10F53-8E3B-0F4B-6A1F-5928CF88E8E0}"/>
              </a:ext>
            </a:extLst>
          </p:cNvPr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&amp; Current Outcomes</a:t>
            </a:r>
            <a:endParaRPr lang="en-US" sz="2800" dirty="0"/>
          </a:p>
        </p:txBody>
      </p:sp>
      <p:pic>
        <p:nvPicPr>
          <p:cNvPr id="9" name="Image 0" descr="logo.png">
            <a:extLst>
              <a:ext uri="{FF2B5EF4-FFF2-40B4-BE49-F238E27FC236}">
                <a16:creationId xmlns:a16="http://schemas.microsoft.com/office/drawing/2014/main" id="{3B93F086-EC88-ACD3-A3E8-BF0183DF4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74920" y="1005840"/>
            <a:ext cx="6812280" cy="5623560"/>
          </a:xfrm>
          <a:prstGeom prst="roundRect">
            <a:avLst>
              <a:gd name="adj" fmla="val 3000"/>
            </a:avLst>
          </a:prstGeom>
          <a:solidFill>
            <a:srgbClr val="27272B"/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1133856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D966"/>
                </a:solidFill>
              </a:rPr>
              <a:t>Architecture — Current Setup (Review 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1610" y="2789422"/>
            <a:ext cx="30120" cy="301203"/>
          </a:xfrm>
          <a:prstGeom prst="rect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6076069" y="3592631"/>
            <a:ext cx="301203" cy="753008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93742" y="4807485"/>
            <a:ext cx="1255014" cy="30120"/>
          </a:xfrm>
          <a:prstGeom prst="rect">
            <a:avLst/>
          </a:prstGeom>
          <a:solidFill>
            <a:srgbClr val="8F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28883" y="4558992"/>
            <a:ext cx="30120" cy="276103"/>
          </a:xfrm>
          <a:prstGeom prst="rect">
            <a:avLst/>
          </a:prstGeom>
          <a:solidFill>
            <a:srgbClr val="8F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51369" y="4558992"/>
            <a:ext cx="30120" cy="276103"/>
          </a:xfrm>
          <a:prstGeom prst="rect">
            <a:avLst/>
          </a:prstGeom>
          <a:solidFill>
            <a:srgbClr val="8F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88515" y="4558992"/>
            <a:ext cx="30120" cy="276103"/>
          </a:xfrm>
          <a:prstGeom prst="rect">
            <a:avLst/>
          </a:prstGeom>
          <a:solidFill>
            <a:srgbClr val="8F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6738716" y="4692024"/>
            <a:ext cx="552206" cy="261042"/>
          </a:xfrm>
          <a:prstGeom prst="right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7607186" y="3592631"/>
            <a:ext cx="351403" cy="602406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8309994" y="3803474"/>
            <a:ext cx="602406" cy="230922"/>
          </a:xfrm>
          <a:prstGeom prst="right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8345134" y="4235199"/>
            <a:ext cx="451805" cy="220882"/>
          </a:xfrm>
          <a:prstGeom prst="right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8395335" y="4767324"/>
            <a:ext cx="753008" cy="230922"/>
          </a:xfrm>
          <a:prstGeom prst="right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599163" y="2136815"/>
            <a:ext cx="1255014" cy="702807"/>
          </a:xfrm>
          <a:prstGeom prst="ellipse">
            <a:avLst/>
          </a:prstGeom>
          <a:solidFill>
            <a:srgbClr val="F4B081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4572" bIns="4572"/>
          <a:lstStyle/>
          <a:p>
            <a:pPr algn="ctr"/>
            <a:r>
              <a:rPr sz="1300" b="1">
                <a:solidFill>
                  <a:srgbClr val="111111"/>
                </a:solidFill>
              </a:rPr>
              <a:t>ECG Electrodes
(3-lead belt)</a:t>
            </a:r>
          </a:p>
        </p:txBody>
      </p:sp>
      <p:sp>
        <p:nvSpPr>
          <p:cNvPr id="24" name="Oval 23"/>
          <p:cNvSpPr/>
          <p:nvPr/>
        </p:nvSpPr>
        <p:spPr>
          <a:xfrm>
            <a:off x="5589123" y="3040425"/>
            <a:ext cx="1255014" cy="552206"/>
          </a:xfrm>
          <a:prstGeom prst="ellipse">
            <a:avLst/>
          </a:prstGeom>
          <a:solidFill>
            <a:srgbClr val="F4B081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4572" bIns="4572"/>
          <a:lstStyle/>
          <a:p>
            <a:pPr algn="ctr"/>
            <a:r>
              <a:rPr sz="1200" b="1">
                <a:solidFill>
                  <a:srgbClr val="111111"/>
                </a:solidFill>
              </a:rPr>
              <a:t>ECG Sensor
(AD8232 · analog)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13020" y="4320540"/>
            <a:ext cx="461845" cy="331323"/>
          </a:xfrm>
          <a:prstGeom prst="roundRect">
            <a:avLst>
              <a:gd name="adj" fmla="val 18000"/>
            </a:avLst>
          </a:prstGeom>
          <a:solidFill>
            <a:srgbClr val="F4B081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4572" bIns="4572"/>
          <a:lstStyle/>
          <a:p>
            <a:pPr algn="ctr"/>
            <a:r>
              <a:rPr sz="1400" b="1">
                <a:solidFill>
                  <a:srgbClr val="111111"/>
                </a:solidFill>
              </a:rPr>
              <a:t>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35507" y="4320540"/>
            <a:ext cx="461845" cy="331323"/>
          </a:xfrm>
          <a:prstGeom prst="roundRect">
            <a:avLst>
              <a:gd name="adj" fmla="val 18000"/>
            </a:avLst>
          </a:prstGeom>
          <a:solidFill>
            <a:srgbClr val="F4B081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4572" bIns="4572"/>
          <a:lstStyle/>
          <a:p>
            <a:pPr algn="ctr"/>
            <a:r>
              <a:rPr sz="1400" b="1">
                <a:solidFill>
                  <a:srgbClr val="111111"/>
                </a:solidFill>
              </a:rPr>
              <a:t>Q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72653" y="4320540"/>
            <a:ext cx="461845" cy="331323"/>
          </a:xfrm>
          <a:prstGeom prst="roundRect">
            <a:avLst>
              <a:gd name="adj" fmla="val 18000"/>
            </a:avLst>
          </a:prstGeom>
          <a:solidFill>
            <a:srgbClr val="F4B081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4572" bIns="4572"/>
          <a:lstStyle/>
          <a:p>
            <a:pPr algn="ctr"/>
            <a:r>
              <a:rPr sz="1400" b="1">
                <a:solidFill>
                  <a:srgbClr val="111111"/>
                </a:solidFill>
              </a:rPr>
              <a:t>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80882" y="3281388"/>
            <a:ext cx="1004011" cy="371484"/>
          </a:xfrm>
          <a:prstGeom prst="roundRect">
            <a:avLst>
              <a:gd name="adj" fmla="val 14000"/>
            </a:avLst>
          </a:prstGeom>
          <a:solidFill>
            <a:srgbClr val="F4B081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4572" bIns="4572"/>
          <a:lstStyle/>
          <a:p>
            <a:pPr algn="ctr"/>
            <a:r>
              <a:rPr sz="1200" b="1">
                <a:solidFill>
                  <a:srgbClr val="111111"/>
                </a:solidFill>
              </a:rPr>
              <a:t>5V Power
(USB)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77971" y="4232689"/>
            <a:ext cx="1179713" cy="1179713"/>
          </a:xfrm>
          <a:prstGeom prst="roundRect">
            <a:avLst>
              <a:gd name="adj" fmla="val 10000"/>
            </a:avLst>
          </a:prstGeom>
          <a:solidFill>
            <a:srgbClr val="F4B081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4572" bIns="4572"/>
          <a:lstStyle/>
          <a:p>
            <a:pPr algn="ctr"/>
            <a:r>
              <a:rPr sz="1300" b="1">
                <a:solidFill>
                  <a:srgbClr val="111111"/>
                </a:solidFill>
              </a:rPr>
              <a:t>Arduino UNO
filter → R-peak
→ P/Q/R → BPM</a:t>
            </a:r>
          </a:p>
        </p:txBody>
      </p:sp>
      <p:sp>
        <p:nvSpPr>
          <p:cNvPr id="30" name="Oval 29"/>
          <p:cNvSpPr/>
          <p:nvPr/>
        </p:nvSpPr>
        <p:spPr>
          <a:xfrm>
            <a:off x="8771839" y="3472150"/>
            <a:ext cx="1054211" cy="502005"/>
          </a:xfrm>
          <a:prstGeom prst="ellipse">
            <a:avLst/>
          </a:prstGeom>
          <a:solidFill>
            <a:srgbClr val="F4B081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4572" bIns="4572"/>
          <a:lstStyle/>
          <a:p>
            <a:pPr algn="ctr"/>
            <a:r>
              <a:rPr sz="1200" b="1">
                <a:solidFill>
                  <a:srgbClr val="111111"/>
                </a:solidFill>
              </a:rPr>
              <a:t>Buzzer
(alarm)</a:t>
            </a:r>
          </a:p>
        </p:txBody>
      </p:sp>
      <p:sp>
        <p:nvSpPr>
          <p:cNvPr id="31" name="Oval 30"/>
          <p:cNvSpPr/>
          <p:nvPr/>
        </p:nvSpPr>
        <p:spPr>
          <a:xfrm>
            <a:off x="8651357" y="4064517"/>
            <a:ext cx="1405615" cy="502005"/>
          </a:xfrm>
          <a:prstGeom prst="ellipse">
            <a:avLst/>
          </a:prstGeom>
          <a:solidFill>
            <a:srgbClr val="F4B081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4572" bIns="4572"/>
          <a:lstStyle/>
          <a:p>
            <a:pPr algn="ctr"/>
            <a:r>
              <a:rPr sz="1300" b="1">
                <a:solidFill>
                  <a:srgbClr val="111111"/>
                </a:solidFill>
              </a:rPr>
              <a:t>LCD Display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99747" y="4561502"/>
            <a:ext cx="1656618" cy="642567"/>
          </a:xfrm>
          <a:prstGeom prst="roundRect">
            <a:avLst>
              <a:gd name="adj" fmla="val 10000"/>
            </a:avLst>
          </a:prstGeom>
          <a:solidFill>
            <a:srgbClr val="F4B081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4572" bIns="4572"/>
          <a:lstStyle/>
          <a:p>
            <a:pPr algn="ctr"/>
            <a:r>
              <a:rPr sz="1300" b="1">
                <a:solidFill>
                  <a:srgbClr val="111111"/>
                </a:solidFill>
              </a:rPr>
              <a:t>ML Prediction
(PC · Random Forest)</a:t>
            </a:r>
          </a:p>
        </p:txBody>
      </p:sp>
    </p:spTree>
    <p:extLst>
      <p:ext uri="{BB962C8B-B14F-4D97-AF65-F5344CB8AC3E}">
        <p14:creationId xmlns:p14="http://schemas.microsoft.com/office/powerpoint/2010/main" val="3731417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Baseline &amp; Road to Neuromorphic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sz="1500" b="1" dirty="0">
                <a:solidFill>
                  <a:srgbClr val="1D2F82"/>
                </a:solidFill>
                <a:latin typeface="Calibri"/>
              </a:rPr>
              <a:t>Baseline classifier (done, proof of concept):</a:t>
            </a:r>
            <a:endParaRPr lang="en-US" sz="1600" dirty="0"/>
          </a:p>
          <a:p>
            <a:pPr marL="320040" lvl="1" indent="-164592">
              <a:lnSpc>
                <a:spcPct val="150000"/>
              </a:lnSpc>
              <a:buChar char="•"/>
            </a:pPr>
            <a:r>
              <a:rPr sz="1250" b="0" dirty="0">
                <a:solidFill>
                  <a:srgbClr val="000000"/>
                </a:solidFill>
                <a:latin typeface="Calibri"/>
              </a:rPr>
              <a:t>A Flask web app takes P/Q/R inputs and predicts Normal / Abnormal using a Random Forest (also tried Logistic Regression, Gradient Boosting, SVC).</a:t>
            </a:r>
          </a:p>
          <a:p>
            <a:pPr marL="320040" lvl="1" indent="-164592">
              <a:lnSpc>
                <a:spcPct val="150000"/>
              </a:lnSpc>
              <a:buChar char="•"/>
            </a:pPr>
            <a:r>
              <a:rPr sz="1250" b="0" dirty="0">
                <a:solidFill>
                  <a:srgbClr val="000000"/>
                </a:solidFill>
                <a:latin typeface="Calibri"/>
              </a:rPr>
              <a:t>Trained on a small synthetic dataset (100 samples, 50 Normal / 50 Abnormal). It is cleanly separable, so accuracy is ~100% — this validates the software pipeline, not clinical performance.</a:t>
            </a:r>
          </a:p>
          <a:p>
            <a:pPr marL="320040" lvl="1" indent="-164592">
              <a:lnSpc>
                <a:spcPct val="150000"/>
              </a:lnSpc>
              <a:buChar char="•"/>
            </a:pPr>
            <a:r>
              <a:rPr sz="1250" b="0" dirty="0">
                <a:solidFill>
                  <a:srgbClr val="1B7A3D"/>
                </a:solidFill>
                <a:latin typeface="Calibri"/>
              </a:rPr>
              <a:t>What this proves: the acquisition → feature → classification → display flow works end to end.</a:t>
            </a:r>
          </a:p>
          <a:p>
            <a:pPr marL="0" indent="0">
              <a:lnSpc>
                <a:spcPct val="150000"/>
              </a:lnSpc>
              <a:buNone/>
            </a:pPr>
            <a:r>
              <a:rPr sz="1500" b="1" dirty="0">
                <a:solidFill>
                  <a:srgbClr val="1D2F82"/>
                </a:solidFill>
                <a:latin typeface="Calibri"/>
              </a:rPr>
              <a:t>Remaining 50% (Review-II → III):</a:t>
            </a:r>
          </a:p>
          <a:p>
            <a:pPr marL="320040" lvl="1" indent="-164592">
              <a:lnSpc>
                <a:spcPct val="150000"/>
              </a:lnSpc>
              <a:buChar char="•"/>
            </a:pPr>
            <a:r>
              <a:rPr sz="1250" b="0" dirty="0">
                <a:solidFill>
                  <a:srgbClr val="000000"/>
                </a:solidFill>
                <a:latin typeface="Calibri"/>
              </a:rPr>
              <a:t>Capture real ECG and extract P/Q/R (or raw beats) automatically on-device instead of manual entry.</a:t>
            </a:r>
          </a:p>
          <a:p>
            <a:pPr marL="320040" lvl="1" indent="-164592">
              <a:lnSpc>
                <a:spcPct val="150000"/>
              </a:lnSpc>
              <a:buChar char="•"/>
            </a:pPr>
            <a:r>
              <a:rPr sz="1250" b="0" dirty="0">
                <a:solidFill>
                  <a:srgbClr val="000000"/>
                </a:solidFill>
                <a:latin typeface="Calibri"/>
              </a:rPr>
              <a:t>Train and validate on the real MIT-BIH Arrhythmia Database for honest, reportable accuracy.</a:t>
            </a:r>
          </a:p>
          <a:p>
            <a:pPr marL="320040" lvl="1" indent="-164592">
              <a:lnSpc>
                <a:spcPct val="150000"/>
              </a:lnSpc>
              <a:buChar char="•"/>
            </a:pPr>
            <a:r>
              <a:rPr sz="1250" b="0" dirty="0">
                <a:solidFill>
                  <a:srgbClr val="000000"/>
                </a:solidFill>
                <a:latin typeface="Calibri"/>
              </a:rPr>
              <a:t>Implement the target neuromorphic model: level-crossing sampling + SNN trained with STBP; benchmark accuracy and power vs. the RF baseline.</a:t>
            </a:r>
          </a:p>
          <a:p>
            <a:pPr marL="320040" lvl="1" indent="-164592">
              <a:lnSpc>
                <a:spcPct val="150000"/>
              </a:lnSpc>
              <a:buChar char="•"/>
            </a:pPr>
            <a:r>
              <a:rPr sz="1250" b="0" dirty="0">
                <a:solidFill>
                  <a:srgbClr val="000000"/>
                </a:solidFill>
                <a:latin typeface="Calibri"/>
              </a:rPr>
              <a:t>Integrate the SNN back onto the wearable for on-device, low-power inference.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  <a:buSzPct val="100000"/>
            </a:pPr>
            <a:r>
              <a:rPr sz="1050" dirty="0">
                <a:solidFill>
                  <a:srgbClr val="000000"/>
                </a:solidFill>
                <a:latin typeface="Calibri"/>
              </a:rPr>
              <a:t>[1] O. M. </a:t>
            </a:r>
            <a:r>
              <a:rPr sz="1050" dirty="0" err="1">
                <a:solidFill>
                  <a:srgbClr val="000000"/>
                </a:solidFill>
                <a:latin typeface="Calibri"/>
              </a:rPr>
              <a:t>Machidon</a:t>
            </a:r>
            <a:r>
              <a:rPr sz="1050" dirty="0">
                <a:solidFill>
                  <a:srgbClr val="000000"/>
                </a:solidFill>
                <a:latin typeface="Calibri"/>
              </a:rPr>
              <a:t>, "Privacy-preserving adaptive arrhythmia monitoring with wearable ECG, smartphone PPG, and federated on-device learning," Frontiers in Digital Health, vol. 8, 2026.</a:t>
            </a:r>
            <a:endParaRPr lang="en-US" sz="1600" dirty="0"/>
          </a:p>
          <a:p>
            <a:pPr>
              <a:spcAft>
                <a:spcPts val="800"/>
              </a:spcAft>
              <a:buSzPct val="100000"/>
            </a:pPr>
            <a:r>
              <a:rPr lang="en-IN" sz="1050" dirty="0">
                <a:solidFill>
                  <a:srgbClr val="000000"/>
                </a:solidFill>
                <a:latin typeface="Calibri"/>
              </a:rPr>
              <a:t>[</a:t>
            </a:r>
            <a:r>
              <a:rPr sz="1050" dirty="0">
                <a:solidFill>
                  <a:srgbClr val="000000"/>
                </a:solidFill>
                <a:latin typeface="Calibri"/>
              </a:rPr>
              <a:t>2] S. Sheeba Rani, D. Gopal, S. Vignesh, and P. S. Ramesh, "Advanced IoT-enabled embedded wearable system for continuous cardiovascular health monitoring using edge intelligence," Biomed. Signal Process. Control, 2025.</a:t>
            </a:r>
          </a:p>
          <a:p>
            <a:r>
              <a:rPr sz="1050" dirty="0">
                <a:solidFill>
                  <a:srgbClr val="000000"/>
                </a:solidFill>
                <a:latin typeface="Calibri"/>
              </a:rPr>
              <a:t>[3] M. </a:t>
            </a:r>
            <a:r>
              <a:rPr sz="1050" dirty="0" err="1">
                <a:solidFill>
                  <a:srgbClr val="000000"/>
                </a:solidFill>
                <a:latin typeface="Calibri"/>
              </a:rPr>
              <a:t>Hizem</a:t>
            </a:r>
            <a:r>
              <a:rPr sz="1050" dirty="0">
                <a:solidFill>
                  <a:srgbClr val="000000"/>
                </a:solidFill>
                <a:latin typeface="Calibri"/>
              </a:rPr>
              <a:t>, L. Bousbia, Y. Ben </a:t>
            </a:r>
            <a:r>
              <a:rPr sz="1050" dirty="0" err="1">
                <a:solidFill>
                  <a:srgbClr val="000000"/>
                </a:solidFill>
                <a:latin typeface="Calibri"/>
              </a:rPr>
              <a:t>Dhiab</a:t>
            </a:r>
            <a:r>
              <a:rPr sz="1050" dirty="0">
                <a:solidFill>
                  <a:srgbClr val="000000"/>
                </a:solidFill>
                <a:latin typeface="Calibri"/>
              </a:rPr>
              <a:t>, M. Ould-</a:t>
            </a:r>
            <a:r>
              <a:rPr sz="1050" dirty="0" err="1">
                <a:solidFill>
                  <a:srgbClr val="000000"/>
                </a:solidFill>
                <a:latin typeface="Calibri"/>
              </a:rPr>
              <a:t>Elhassen</a:t>
            </a:r>
            <a:r>
              <a:rPr sz="1050" dirty="0">
                <a:solidFill>
                  <a:srgbClr val="000000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000000"/>
                </a:solidFill>
                <a:latin typeface="Calibri"/>
              </a:rPr>
              <a:t>Aoueileyine</a:t>
            </a:r>
            <a:r>
              <a:rPr sz="1050" dirty="0">
                <a:solidFill>
                  <a:srgbClr val="000000"/>
                </a:solidFill>
                <a:latin typeface="Calibri"/>
              </a:rPr>
              <a:t>, and R. </a:t>
            </a:r>
            <a:r>
              <a:rPr sz="1050" dirty="0" err="1">
                <a:solidFill>
                  <a:srgbClr val="000000"/>
                </a:solidFill>
                <a:latin typeface="Calibri"/>
              </a:rPr>
              <a:t>Bouallegue</a:t>
            </a:r>
            <a:r>
              <a:rPr sz="1050" dirty="0">
                <a:solidFill>
                  <a:srgbClr val="000000"/>
                </a:solidFill>
                <a:latin typeface="Calibri"/>
              </a:rPr>
              <a:t>, "Reliable ECG anomaly detection on edge devices for IoMT applications," Sensors, vol. 25, no. 8, 2496, 2025.</a:t>
            </a:r>
          </a:p>
          <a:p>
            <a:endParaRPr lang="en-IN" sz="1050" dirty="0">
              <a:solidFill>
                <a:srgbClr val="000000"/>
              </a:solidFill>
              <a:latin typeface="Calibri"/>
            </a:endParaRPr>
          </a:p>
          <a:p>
            <a:r>
              <a:rPr sz="1050" dirty="0">
                <a:solidFill>
                  <a:srgbClr val="000000"/>
                </a:solidFill>
                <a:latin typeface="Calibri"/>
              </a:rPr>
              <a:t>[4] Y. Wang et al., "Hybrid CNN-LSTM model for ECG-based arrhythmia detection in internet of medical things," Discover Internet of Things (Springer), 2025.</a:t>
            </a:r>
          </a:p>
          <a:p>
            <a:endParaRPr lang="en-IN" sz="1050" dirty="0">
              <a:solidFill>
                <a:srgbClr val="000000"/>
              </a:solidFill>
              <a:latin typeface="Calibri"/>
            </a:endParaRPr>
          </a:p>
          <a:p>
            <a:r>
              <a:rPr sz="1050" dirty="0">
                <a:solidFill>
                  <a:srgbClr val="000000"/>
                </a:solidFill>
                <a:latin typeface="Calibri"/>
              </a:rPr>
              <a:t>[5] E. M. Priya and K. Sundara Krishnan, "LIFE-CARE: IoT–cloud-enabled smart heart disease prediction system," Int. J. Distributed Sensor Networks (Wiley), 2025.</a:t>
            </a:r>
          </a:p>
          <a:p>
            <a:endParaRPr lang="en-IN" sz="1050" dirty="0">
              <a:solidFill>
                <a:srgbClr val="000000"/>
              </a:solidFill>
              <a:latin typeface="Calibri"/>
            </a:endParaRPr>
          </a:p>
          <a:p>
            <a:r>
              <a:rPr sz="1050" dirty="0">
                <a:solidFill>
                  <a:srgbClr val="000000"/>
                </a:solidFill>
                <a:latin typeface="Calibri"/>
              </a:rPr>
              <a:t>[6] Z. </a:t>
            </a:r>
            <a:r>
              <a:rPr sz="1050" dirty="0" err="1">
                <a:solidFill>
                  <a:srgbClr val="000000"/>
                </a:solidFill>
                <a:latin typeface="Calibri"/>
              </a:rPr>
              <a:t>Alimbayeva</a:t>
            </a:r>
            <a:r>
              <a:rPr sz="1050" dirty="0">
                <a:solidFill>
                  <a:srgbClr val="000000"/>
                </a:solidFill>
                <a:latin typeface="Calibri"/>
              </a:rPr>
              <a:t> et al., "Wearable ECG device and machine learning for heart monitoring," Sensors, vol. 24, no. 13, 4201, 2024.</a:t>
            </a:r>
          </a:p>
          <a:p>
            <a:endParaRPr lang="en-IN" sz="1050" dirty="0">
              <a:solidFill>
                <a:srgbClr val="000000"/>
              </a:solidFill>
              <a:latin typeface="Calibri"/>
            </a:endParaRPr>
          </a:p>
          <a:p>
            <a:r>
              <a:rPr sz="1050" dirty="0">
                <a:solidFill>
                  <a:srgbClr val="000000"/>
                </a:solidFill>
                <a:latin typeface="Calibri"/>
              </a:rPr>
              <a:t>[7] X. An et al., "Lightweight arrhythmia classification via knowledge distillation for wearable single-lead ECG," Sensors, vol. 24, no. 24, 7896, 2024.</a:t>
            </a:r>
          </a:p>
          <a:p>
            <a:endParaRPr lang="en-IN" sz="1050" dirty="0">
              <a:solidFill>
                <a:srgbClr val="000000"/>
              </a:solidFill>
              <a:latin typeface="Calibri"/>
            </a:endParaRPr>
          </a:p>
          <a:p>
            <a:r>
              <a:rPr sz="1050" dirty="0">
                <a:solidFill>
                  <a:srgbClr val="000000"/>
                </a:solidFill>
                <a:latin typeface="Calibri"/>
              </a:rPr>
              <a:t>[8] A. S. </a:t>
            </a:r>
            <a:r>
              <a:rPr sz="1050" dirty="0" err="1">
                <a:solidFill>
                  <a:srgbClr val="000000"/>
                </a:solidFill>
                <a:latin typeface="Calibri"/>
              </a:rPr>
              <a:t>Almasoud</a:t>
            </a:r>
            <a:r>
              <a:rPr sz="1050" dirty="0">
                <a:solidFill>
                  <a:srgbClr val="000000"/>
                </a:solidFill>
                <a:latin typeface="Calibri"/>
              </a:rPr>
              <a:t> et al., "Automated arrhythmia classification using Farmland Fertility Algorithm with hybrid deep learning on IoT," Sensors, vol. 23, no. 19, 8265, 2023.</a:t>
            </a:r>
          </a:p>
          <a:p>
            <a:endParaRPr lang="en-IN" sz="1050" dirty="0">
              <a:solidFill>
                <a:srgbClr val="000000"/>
              </a:solidFill>
              <a:latin typeface="Calibri"/>
            </a:endParaRPr>
          </a:p>
          <a:p>
            <a:r>
              <a:rPr sz="1050" dirty="0">
                <a:solidFill>
                  <a:srgbClr val="000000"/>
                </a:solidFill>
                <a:latin typeface="Calibri"/>
              </a:rPr>
              <a:t>[9] Y. M. Obeidat and A. M. Alqudah, "An embedded system based on Raspberry Pi for effective ECG monitoring," Applied Sciences, vol. 13, no. 14, 8273, 2023.</a:t>
            </a:r>
          </a:p>
          <a:p>
            <a:endParaRPr lang="en-IN" sz="1050" dirty="0">
              <a:solidFill>
                <a:srgbClr val="000000"/>
              </a:solidFill>
              <a:latin typeface="Calibri"/>
            </a:endParaRPr>
          </a:p>
          <a:p>
            <a:r>
              <a:rPr sz="1050" dirty="0">
                <a:solidFill>
                  <a:srgbClr val="000000"/>
                </a:solidFill>
                <a:latin typeface="Calibri"/>
              </a:rPr>
              <a:t>[10] N. Raheja and A. K. Manocha, "IoT-based ECG monitoring system with encryption and authentication," Biomed. Signal Process. Control, vol. 74, 2022.</a:t>
            </a:r>
          </a:p>
          <a:p>
            <a:endParaRPr lang="en-IN" sz="1050" dirty="0">
              <a:solidFill>
                <a:srgbClr val="000000"/>
              </a:solidFill>
              <a:latin typeface="Calibri"/>
            </a:endParaRPr>
          </a:p>
          <a:p>
            <a:r>
              <a:rPr sz="1050" dirty="0">
                <a:solidFill>
                  <a:srgbClr val="000000"/>
                </a:solidFill>
                <a:latin typeface="Calibri"/>
              </a:rPr>
              <a:t>[11] A. A. Nancy et al., "IoT-cloud-based smart healthcare monitoring system for heart disease prediction via deep learning," Electronics, vol. 11, no. 15, 2292, 2022.</a:t>
            </a:r>
          </a:p>
          <a:p>
            <a:endParaRPr lang="en-IN" sz="1050" dirty="0">
              <a:solidFill>
                <a:srgbClr val="000000"/>
              </a:solidFill>
              <a:latin typeface="Calibri"/>
            </a:endParaRPr>
          </a:p>
          <a:p>
            <a:r>
              <a:rPr sz="1050" dirty="0">
                <a:solidFill>
                  <a:srgbClr val="000000"/>
                </a:solidFill>
                <a:latin typeface="Calibri"/>
              </a:rPr>
              <a:t>[12] P. Wang et al., "A wearable ECG monitor for deep learning based real-time cardiovascular disease detection," arXiv:2201.10083, 2022.</a:t>
            </a:r>
          </a:p>
          <a:p>
            <a:endParaRPr lang="en-IN" sz="1050" dirty="0">
              <a:solidFill>
                <a:srgbClr val="000000"/>
              </a:solidFill>
              <a:latin typeface="Calibri"/>
            </a:endParaRPr>
          </a:p>
          <a:p>
            <a:r>
              <a:rPr sz="1050" dirty="0">
                <a:solidFill>
                  <a:srgbClr val="000000"/>
                </a:solidFill>
                <a:latin typeface="Calibri"/>
              </a:rPr>
              <a:t>[13] H. Chu et al., "A neuromorphic processing system with spike-driven SNN processor for wearable ECG classification," IEEE Trans. Biomed. Circuits Syst., vol. 16, no. 4, pp. 511–523, 2022.</a:t>
            </a:r>
          </a:p>
          <a:p>
            <a:endParaRPr lang="en-IN" sz="1050" dirty="0">
              <a:solidFill>
                <a:srgbClr val="000000"/>
              </a:solidFill>
              <a:latin typeface="Calibri"/>
            </a:endParaRPr>
          </a:p>
          <a:p>
            <a:r>
              <a:rPr sz="1050" dirty="0">
                <a:solidFill>
                  <a:srgbClr val="000000"/>
                </a:solidFill>
                <a:latin typeface="Calibri"/>
              </a:rPr>
              <a:t>[14] S. </a:t>
            </a:r>
            <a:r>
              <a:rPr sz="1050" dirty="0" err="1">
                <a:solidFill>
                  <a:srgbClr val="000000"/>
                </a:solidFill>
                <a:latin typeface="Calibri"/>
              </a:rPr>
              <a:t>Alinsaif</a:t>
            </a:r>
            <a:r>
              <a:rPr sz="1050" dirty="0">
                <a:solidFill>
                  <a:srgbClr val="000000"/>
                </a:solidFill>
                <a:latin typeface="Calibri"/>
              </a:rPr>
              <a:t>, "Neuromorphic computing for long-term cardiac health: a review of spiking neural networks in low-power wearable electronics," Electronics, vol. 15, no. 6, 1179, 2026.</a:t>
            </a:r>
          </a:p>
          <a:p>
            <a:endParaRPr lang="en-IN" sz="1050" dirty="0">
              <a:solidFill>
                <a:srgbClr val="000000"/>
              </a:solidFill>
              <a:latin typeface="Calibri"/>
            </a:endParaRPr>
          </a:p>
          <a:p>
            <a:r>
              <a:rPr sz="1050" dirty="0">
                <a:solidFill>
                  <a:srgbClr val="000000"/>
                </a:solidFill>
                <a:latin typeface="Calibri"/>
              </a:rPr>
              <a:t>[15] O. Banjo and B. Ghoraani, "A cascaded quantized spiking neural network for real-time ECG arrhythmia detection on edge hardware," Sensors, vol. 26, no. 12, 3723, 2026.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743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2244</Words>
  <Application>Microsoft Office PowerPoint</Application>
  <PresentationFormat>Widescreen</PresentationFormat>
  <Paragraphs>184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Shreyash Khare</cp:lastModifiedBy>
  <cp:revision>5</cp:revision>
  <dcterms:created xsi:type="dcterms:W3CDTF">2026-08-27T09:57:11Z</dcterms:created>
  <dcterms:modified xsi:type="dcterms:W3CDTF">2026-09-08T19:57:09Z</dcterms:modified>
</cp:coreProperties>
</file>